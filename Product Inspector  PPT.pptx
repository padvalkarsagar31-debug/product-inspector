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1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146847059" r:id="rId12"/>
    <p:sldId id="2146847060" r:id="rId13"/>
    <p:sldId id="2146847058" r:id="rId14"/>
    <p:sldId id="2146847057" r:id="rId15"/>
    <p:sldId id="268" r:id="rId16"/>
    <p:sldId id="2146847055" r:id="rId17"/>
    <p:sldId id="269" r:id="rId18"/>
    <p:sldId id="2146847056" r:id="rId19"/>
    <p:sldId id="2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EC2134-FE55-D600-31C0-C82AB450B7AA}" v="39" dt="2026-08-09T17:41:19.1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023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9/25/2026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dvalkarsagar31-debug/Product_Inspector-.gi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349532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Product Inspector </a:t>
            </a:r>
            <a:r>
              <a:rPr lang="en-US" dirty="0" smtClean="0"/>
              <a:t>      </a:t>
            </a:r>
            <a:br>
              <a:rPr lang="en-US" dirty="0" smtClean="0"/>
            </a:br>
            <a:r>
              <a:rPr lang="en-US" sz="1600" dirty="0">
                <a:latin typeface="+mn-lt"/>
              </a:rPr>
              <a:t>analyzes Indian consumer goods for FSSAI compliance, nutritional impact, and additive safety</a:t>
            </a:r>
            <a:endParaRPr lang="en-US" sz="1600" dirty="0">
              <a:solidFill>
                <a:schemeClr val="accent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91765" y="4241132"/>
            <a:ext cx="7980183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Name-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Sagar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Santosh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Padvalkar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Name-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Dnyanprasarak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Mandal’s College and       Research Center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TYBcom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(Banking and Financial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sevices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)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4.   AICTE ID-STU69f35e36c47231777557046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9"/>
            <a:ext cx="10515600" cy="971752"/>
          </a:xfrm>
        </p:spPr>
        <p:txBody>
          <a:bodyPr/>
          <a:lstStyle/>
          <a:p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en-US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592"/>
            <a:ext cx="11019020" cy="449735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endParaRPr lang="en-US" sz="2000" b="1" dirty="0" smtClean="0">
              <a:latin typeface="Arial"/>
              <a:ea typeface="+mn-lt"/>
              <a:cs typeface="Arial"/>
            </a:endParaRPr>
          </a:p>
          <a:p>
            <a:r>
              <a:rPr lang="en-US" sz="2000" b="1" dirty="0" smtClean="0">
                <a:latin typeface="Arial"/>
                <a:ea typeface="+mn-lt"/>
                <a:cs typeface="Arial"/>
              </a:rPr>
              <a:t>Proposed </a:t>
            </a:r>
            <a:r>
              <a:rPr lang="en-US" sz="2000" b="1" dirty="0">
                <a:latin typeface="Arial"/>
                <a:ea typeface="+mn-lt"/>
                <a:cs typeface="Arial"/>
              </a:rPr>
              <a:t>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</a:t>
            </a:r>
            <a:r>
              <a:rPr lang="en-US" sz="2000" b="1" dirty="0" smtClean="0">
                <a:latin typeface="Arial"/>
                <a:ea typeface="+mn-lt"/>
                <a:cs typeface="+mn-lt"/>
              </a:rPr>
              <a:t>Approach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895739"/>
            <a:ext cx="10585711" cy="36109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India’s food safety ecosystem suffers from a critical enforcement deficit, poor hygiene infrastructure, and a fragmented supply chain, exposing over 1.4 billion consumers to widespread microbial contamination, toxic pesticide residues, and economic food fraud. This regulatory gap is further widened by a severe shortage of food safety inspectors and the rapid, unchecked growth of digital cloud kitchens and quick-commerce delivery apps. Consequently, this crisis results in over 100 million annual cases of foodborne illness, creating a double burden of preventable public health crises and billions of dollars in lost economic productivity.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200" b="1" dirty="0"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en-US" dirty="0"/>
              <a:t>This platform provides significant public value by increasing food transparency, empowering consumers to make healthier choices, and making complex nutritional and regulatory data accessible.</a:t>
            </a:r>
          </a:p>
          <a:p>
            <a:pPr marL="0" indent="0">
              <a:buNone/>
            </a:pPr>
            <a:r>
              <a:rPr lang="en-US" b="1" dirty="0"/>
              <a:t>Key Public Benefits</a:t>
            </a:r>
            <a:endParaRPr lang="en-US" dirty="0"/>
          </a:p>
          <a:p>
            <a:r>
              <a:rPr lang="en-US" b="1" dirty="0"/>
              <a:t>Promotes Health Literacy &amp; Transparency:</a:t>
            </a:r>
            <a:r>
              <a:rPr lang="en-US" dirty="0"/>
              <a:t> Translates dense nutritional labels, FSSAI regulations, and technical ingredients into clear health ratings (like </a:t>
            </a:r>
            <a:r>
              <a:rPr lang="en-US" dirty="0" err="1"/>
              <a:t>Nutri</a:t>
            </a:r>
            <a:r>
              <a:rPr lang="en-US" dirty="0"/>
              <a:t>-Score and Clean Label scores). Consumers can immediately identify hidden saturated fats, sodium, or artificial additives.</a:t>
            </a:r>
          </a:p>
          <a:p>
            <a:r>
              <a:rPr lang="en-US" b="1" dirty="0"/>
              <a:t>Simplifies Informed Purchasing:</a:t>
            </a:r>
            <a:r>
              <a:rPr lang="en-US" dirty="0"/>
              <a:t> Helps individuals quickly assess whether a product fits their personal goals, health conditions (e.g., cardiovascular risks), or specific dietary requirements (such as Gluten-Free, Jain, or Vegan compliance).</a:t>
            </a:r>
          </a:p>
          <a:p>
            <a:r>
              <a:rPr lang="en-US" b="1" dirty="0"/>
              <a:t>Demystifies Food Processing:</a:t>
            </a:r>
            <a:r>
              <a:rPr lang="en-US" dirty="0"/>
              <a:t> Categorizes foods using standard frameworks (like the NOVA Group classification) and details industrial manufacturing pipelines so users understand how heavily processed a product is before buying.</a:t>
            </a:r>
          </a:p>
          <a:p>
            <a:r>
              <a:rPr lang="en-US" b="1" dirty="0"/>
              <a:t>Encourages Better Alternatives:</a:t>
            </a:r>
            <a:r>
              <a:rPr lang="en-US" dirty="0"/>
              <a:t> Suggests healthier local swaps and offers economic breakdowns (e.g., cost per serving), aiding consumers in finding better nutritional value within their budget.</a:t>
            </a:r>
          </a:p>
          <a:p>
            <a:r>
              <a:rPr lang="en-US" b="1" dirty="0"/>
              <a:t>Supports Regulatory Standards:</a:t>
            </a:r>
            <a:r>
              <a:rPr lang="en-US" dirty="0"/>
              <a:t> Highlights official certifications (such as FSSAI and </a:t>
            </a:r>
            <a:r>
              <a:rPr lang="en-US" dirty="0" err="1"/>
              <a:t>Agmark</a:t>
            </a:r>
            <a:r>
              <a:rPr lang="en-US" dirty="0"/>
              <a:t>) and flags harmful additives, helping hold brands accountable to local quality standards.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455575"/>
            <a:ext cx="11029615" cy="6363478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IN" sz="2300" b="1" dirty="0" smtClean="0"/>
              <a:t>Technologies Used </a:t>
            </a:r>
          </a:p>
          <a:p>
            <a:r>
              <a:rPr lang="en-IN" sz="1800" dirty="0" err="1" smtClean="0">
                <a:solidFill>
                  <a:schemeClr val="tx1"/>
                </a:solidFill>
              </a:rPr>
              <a:t>Streamlit</a:t>
            </a:r>
            <a:endParaRPr lang="en-IN" sz="1800" dirty="0" smtClean="0">
              <a:solidFill>
                <a:schemeClr val="tx1"/>
              </a:solidFill>
            </a:endParaRPr>
          </a:p>
          <a:p>
            <a:r>
              <a:rPr lang="en-IN" sz="1800" dirty="0" smtClean="0">
                <a:solidFill>
                  <a:schemeClr val="tx1"/>
                </a:solidFill>
              </a:rPr>
              <a:t>Python</a:t>
            </a:r>
          </a:p>
          <a:p>
            <a:r>
              <a:rPr lang="en-IN" sz="1800" dirty="0" err="1" smtClean="0">
                <a:solidFill>
                  <a:schemeClr val="tx1"/>
                </a:solidFill>
              </a:rPr>
              <a:t>Uv</a:t>
            </a:r>
            <a:endParaRPr lang="en-IN" sz="1800" dirty="0" smtClean="0">
              <a:solidFill>
                <a:schemeClr val="tx1"/>
              </a:solidFill>
            </a:endParaRPr>
          </a:p>
          <a:p>
            <a:r>
              <a:rPr lang="en-IN" sz="1800" dirty="0">
                <a:solidFill>
                  <a:schemeClr val="tx1"/>
                </a:solidFill>
              </a:rPr>
              <a:t>GNU </a:t>
            </a:r>
            <a:r>
              <a:rPr lang="en-IN" sz="1800" dirty="0" smtClean="0">
                <a:solidFill>
                  <a:schemeClr val="tx1"/>
                </a:solidFill>
              </a:rPr>
              <a:t>Make</a:t>
            </a:r>
          </a:p>
          <a:p>
            <a:r>
              <a:rPr lang="en-IN" sz="1800" dirty="0" smtClean="0">
                <a:solidFill>
                  <a:srgbClr val="0F0F0F"/>
                </a:solidFill>
              </a:rPr>
              <a:t>Gemini </a:t>
            </a:r>
            <a:r>
              <a:rPr lang="en-IN" sz="1800" dirty="0" err="1" smtClean="0">
                <a:solidFill>
                  <a:srgbClr val="0F0F0F"/>
                </a:solidFill>
              </a:rPr>
              <a:t>Api</a:t>
            </a:r>
            <a:r>
              <a:rPr lang="en-IN" sz="1800" dirty="0" smtClean="0">
                <a:solidFill>
                  <a:srgbClr val="0F0F0F"/>
                </a:solidFill>
              </a:rPr>
              <a:t> key</a:t>
            </a:r>
            <a:endParaRPr lang="en-IN" sz="1800" dirty="0">
              <a:solidFill>
                <a:srgbClr val="0F0F0F"/>
              </a:solidFill>
            </a:endParaRPr>
          </a:p>
          <a:p>
            <a:endParaRPr lang="en-IN" sz="1800" dirty="0" smtClean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IN" sz="1800" dirty="0" smtClean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IN" sz="1800" dirty="0" smtClean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IN" sz="1800" dirty="0" smtClean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IN" sz="2000" b="1" dirty="0" smtClean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IN" sz="2000" b="1" dirty="0">
              <a:solidFill>
                <a:srgbClr val="0F0F0F"/>
              </a:solidFill>
            </a:endParaRPr>
          </a:p>
          <a:p>
            <a:pPr marL="0" indent="0">
              <a:buNone/>
            </a:pPr>
            <a:r>
              <a:rPr lang="en-IN" sz="2000" b="1" dirty="0" smtClean="0">
                <a:solidFill>
                  <a:srgbClr val="0F0F0F"/>
                </a:solidFill>
              </a:rPr>
              <a:t>Input Feature </a:t>
            </a:r>
          </a:p>
          <a:p>
            <a:r>
              <a:rPr lang="en-US" sz="1800" dirty="0"/>
              <a:t>An option selector to switch between the three </a:t>
            </a:r>
            <a:r>
              <a:rPr lang="en-US" sz="1800" b="1" dirty="0"/>
              <a:t>Input </a:t>
            </a:r>
            <a:r>
              <a:rPr lang="en-US" sz="1800" b="1" dirty="0" smtClean="0"/>
              <a:t>Modes</a:t>
            </a:r>
            <a:r>
              <a:rPr lang="en-US" sz="1800" dirty="0" smtClean="0"/>
              <a:t>: </a:t>
            </a:r>
            <a:r>
              <a:rPr lang="en-US" sz="1800" i="1" dirty="0" smtClean="0"/>
              <a:t>Barcode </a:t>
            </a:r>
            <a:r>
              <a:rPr lang="en-US" sz="1800" i="1" dirty="0"/>
              <a:t>/ Indian Brand or Product </a:t>
            </a:r>
            <a:r>
              <a:rPr lang="en-US" sz="1800" i="1" dirty="0" smtClean="0"/>
              <a:t>Name</a:t>
            </a:r>
            <a:r>
              <a:rPr lang="en-US" sz="1800" dirty="0" smtClean="0"/>
              <a:t>, </a:t>
            </a:r>
            <a:r>
              <a:rPr lang="en-US" sz="1800" i="1" dirty="0" smtClean="0"/>
              <a:t>Popular </a:t>
            </a:r>
            <a:r>
              <a:rPr lang="en-US" sz="1800" i="1" dirty="0"/>
              <a:t>Indian </a:t>
            </a:r>
            <a:r>
              <a:rPr lang="en-US" sz="1800" i="1" dirty="0" smtClean="0"/>
              <a:t>Sample</a:t>
            </a:r>
            <a:r>
              <a:rPr lang="en-US" sz="1800" dirty="0" smtClean="0"/>
              <a:t>, </a:t>
            </a:r>
            <a:r>
              <a:rPr lang="en-US" sz="1800" i="1" dirty="0" smtClean="0"/>
              <a:t>Product </a:t>
            </a:r>
            <a:r>
              <a:rPr lang="en-US" sz="1800" i="1" dirty="0"/>
              <a:t>Image </a:t>
            </a:r>
            <a:r>
              <a:rPr lang="en-US" sz="1800" i="1" dirty="0" smtClean="0"/>
              <a:t>Upload</a:t>
            </a:r>
          </a:p>
          <a:p>
            <a:r>
              <a:rPr lang="en-US" sz="1800" dirty="0"/>
              <a:t>A menu to choose from a list of predefined </a:t>
            </a:r>
            <a:r>
              <a:rPr lang="en-US" sz="1800" b="1" dirty="0"/>
              <a:t>Popular Indian Sample</a:t>
            </a:r>
            <a:r>
              <a:rPr lang="en-US" sz="1800" dirty="0"/>
              <a:t> products (such as </a:t>
            </a:r>
            <a:r>
              <a:rPr lang="en-US" sz="1800" dirty="0" err="1"/>
              <a:t>Amul</a:t>
            </a:r>
            <a:r>
              <a:rPr lang="en-US" sz="1800" dirty="0"/>
              <a:t> Butter, Maggi Noodles, Parle-G, Cadbury Silk, and Tata Salt</a:t>
            </a:r>
            <a:r>
              <a:rPr lang="en-US" sz="1800" dirty="0" smtClean="0"/>
              <a:t>).</a:t>
            </a:r>
          </a:p>
          <a:p>
            <a:r>
              <a:rPr lang="en-US" sz="1800" dirty="0"/>
              <a:t>An upload widget allowing users to select and send physical </a:t>
            </a:r>
            <a:r>
              <a:rPr lang="en-US" sz="1800" b="1" dirty="0"/>
              <a:t>Product </a:t>
            </a:r>
            <a:r>
              <a:rPr lang="en-US" sz="1800" b="1" dirty="0" smtClean="0"/>
              <a:t>Images</a:t>
            </a:r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 smtClean="0"/>
              <a:t>Output : </a:t>
            </a:r>
            <a:r>
              <a:rPr lang="en-US" sz="1800" dirty="0" smtClean="0"/>
              <a:t>Tell all detail of the product like price, safe or unsafe,</a:t>
            </a:r>
            <a:r>
              <a:rPr lang="en-IN" dirty="0"/>
              <a:t> </a:t>
            </a:r>
            <a:r>
              <a:rPr lang="en-IN" dirty="0" err="1" smtClean="0"/>
              <a:t>Nutri</a:t>
            </a:r>
            <a:r>
              <a:rPr lang="en-IN" dirty="0" smtClean="0"/>
              <a:t>-Score,</a:t>
            </a:r>
            <a:r>
              <a:rPr lang="en-IN" b="1" dirty="0"/>
              <a:t> </a:t>
            </a:r>
            <a:r>
              <a:rPr lang="en-IN" dirty="0"/>
              <a:t>Processing </a:t>
            </a:r>
            <a:r>
              <a:rPr lang="en-IN" dirty="0" smtClean="0"/>
              <a:t>Level and many more details</a:t>
            </a:r>
            <a:endParaRPr lang="en-US" sz="2000" dirty="0" smtClean="0"/>
          </a:p>
          <a:p>
            <a:endParaRPr lang="en-US" sz="1800" dirty="0"/>
          </a:p>
          <a:p>
            <a:pPr marL="0" indent="0">
              <a:buNone/>
            </a:pPr>
            <a:endParaRPr lang="en-IN" sz="1800" dirty="0" smtClean="0"/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637251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5"/>
            <a:ext cx="11029615" cy="5481329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endParaRPr lang="en-IN" dirty="0"/>
          </a:p>
          <a:p>
            <a:pPr marL="305435" indent="-305435"/>
            <a:endParaRPr lang="en-IN" dirty="0"/>
          </a:p>
          <a:p>
            <a:pPr marL="305435" indent="-305435"/>
            <a:endParaRPr lang="en-IN" dirty="0"/>
          </a:p>
          <a:p>
            <a:pPr marL="305435" indent="-305435"/>
            <a:endParaRPr lang="en-IN" dirty="0"/>
          </a:p>
          <a:p>
            <a:pPr marL="305435" indent="-305435"/>
            <a:endParaRPr lang="en-IN" dirty="0"/>
          </a:p>
          <a:p>
            <a:pPr marL="305435" indent="-305435"/>
            <a:endParaRPr lang="en-IN" dirty="0"/>
          </a:p>
          <a:p>
            <a:pPr marL="305435" indent="-305435"/>
            <a:endParaRPr lang="en-IN" dirty="0"/>
          </a:p>
          <a:p>
            <a:pPr marL="305435" indent="-305435"/>
            <a:endParaRPr lang="en-IN" dirty="0"/>
          </a:p>
          <a:p>
            <a:pPr marL="305435" indent="-305435"/>
            <a:endParaRPr lang="en-IN" dirty="0"/>
          </a:p>
          <a:p>
            <a:pPr marL="305435" indent="-305435"/>
            <a:endParaRPr lang="en-IN" dirty="0" smtClean="0"/>
          </a:p>
          <a:p>
            <a:pPr marL="305435" indent="-305435"/>
            <a:endParaRPr lang="en-IN" dirty="0"/>
          </a:p>
          <a:p>
            <a:pPr marL="305435" indent="-305435"/>
            <a:endParaRPr lang="en-IN" dirty="0" smtClean="0"/>
          </a:p>
          <a:p>
            <a:pPr marL="305435" indent="-305435"/>
            <a:endParaRPr lang="en-IN" dirty="0"/>
          </a:p>
          <a:p>
            <a:pPr marL="305435" indent="-305435"/>
            <a:endParaRPr lang="en-IN" dirty="0" smtClean="0"/>
          </a:p>
          <a:p>
            <a:pPr marL="305435" indent="-305435"/>
            <a:endParaRPr lang="en-IN" dirty="0"/>
          </a:p>
          <a:p>
            <a:pPr marL="305435" indent="-305435"/>
            <a:endParaRPr lang="en-IN" dirty="0"/>
          </a:p>
          <a:p>
            <a:pPr marL="305435" indent="-305435"/>
            <a:r>
              <a:rPr lang="en-IN" sz="2000" b="1" dirty="0" smtClean="0"/>
              <a:t>Deployment: </a:t>
            </a:r>
            <a:r>
              <a:rPr lang="en-IN" sz="2000" dirty="0" err="1" smtClean="0"/>
              <a:t>Streamlit</a:t>
            </a:r>
            <a:r>
              <a:rPr lang="en-IN" sz="2000" dirty="0" smtClean="0"/>
              <a:t>- based web application.</a:t>
            </a:r>
            <a:endParaRPr lang="en-IN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328" y="1139672"/>
            <a:ext cx="4385816" cy="564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429" y="1301749"/>
            <a:ext cx="8885086" cy="4996413"/>
          </a:xfr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485" y="1301750"/>
            <a:ext cx="8311030" cy="4673600"/>
          </a:xfrm>
        </p:spPr>
      </p:pic>
    </p:spTree>
    <p:extLst>
      <p:ext uri="{BB962C8B-B14F-4D97-AF65-F5344CB8AC3E}">
        <p14:creationId xmlns:p14="http://schemas.microsoft.com/office/powerpoint/2010/main" val="1627764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26" y="1301750"/>
            <a:ext cx="8357547" cy="4673600"/>
          </a:xfrm>
        </p:spPr>
      </p:pic>
    </p:spTree>
    <p:extLst>
      <p:ext uri="{BB962C8B-B14F-4D97-AF65-F5344CB8AC3E}">
        <p14:creationId xmlns:p14="http://schemas.microsoft.com/office/powerpoint/2010/main" val="756904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485" y="1301750"/>
            <a:ext cx="8311030" cy="4673600"/>
          </a:xfrm>
        </p:spPr>
      </p:pic>
    </p:spTree>
    <p:extLst>
      <p:ext uri="{BB962C8B-B14F-4D97-AF65-F5344CB8AC3E}">
        <p14:creationId xmlns:p14="http://schemas.microsoft.com/office/powerpoint/2010/main" val="3585895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485" y="1301750"/>
            <a:ext cx="8311030" cy="4673600"/>
          </a:xfrm>
        </p:spPr>
      </p:pic>
    </p:spTree>
    <p:extLst>
      <p:ext uri="{BB962C8B-B14F-4D97-AF65-F5344CB8AC3E}">
        <p14:creationId xmlns:p14="http://schemas.microsoft.com/office/powerpoint/2010/main" val="2217496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0830147" cy="53227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This </a:t>
            </a:r>
            <a:r>
              <a:rPr lang="en-US" sz="2000" dirty="0" smtClean="0"/>
              <a:t>application  Indian </a:t>
            </a:r>
            <a:r>
              <a:rPr lang="en-US" sz="2000" dirty="0"/>
              <a:t>Product Inspector &amp; Health </a:t>
            </a:r>
            <a:r>
              <a:rPr lang="en-US" sz="2000" dirty="0" smtClean="0"/>
              <a:t>Rating  analyzes </a:t>
            </a:r>
            <a:r>
              <a:rPr lang="en-US" sz="2000" dirty="0"/>
              <a:t>Indian consumer goods for FSSAI compliance, nutritional impact, and additive safety. Users input product names, barcodes, or images to view detailed health scores (</a:t>
            </a:r>
            <a:r>
              <a:rPr lang="en-US" sz="2000" dirty="0" err="1"/>
              <a:t>Nutri</a:t>
            </a:r>
            <a:r>
              <a:rPr lang="en-US" sz="2000" dirty="0"/>
              <a:t>-Score, NOVA group), step-by-step manufacturing pathways, dietary compliance, and healthier local swaps</a:t>
            </a:r>
            <a:r>
              <a:rPr lang="en-US" sz="2000" dirty="0" smtClean="0"/>
              <a:t>. 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0F0F0F"/>
                </a:solidFill>
              </a:rPr>
              <a:t>Key Outcomes: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Comprehensive Health Scoring:</a:t>
            </a:r>
            <a:r>
              <a:rPr lang="en-US" altLang="en-US" sz="1800" dirty="0">
                <a:solidFill>
                  <a:schemeClr val="tx1"/>
                </a:solidFill>
              </a:rPr>
              <a:t> Instantly evaluate food products using standardized systems like </a:t>
            </a:r>
            <a:r>
              <a:rPr lang="en-US" altLang="en-US" sz="1800" dirty="0" err="1">
                <a:solidFill>
                  <a:schemeClr val="tx1"/>
                </a:solidFill>
              </a:rPr>
              <a:t>Nutri</a:t>
            </a:r>
            <a:r>
              <a:rPr lang="en-US" altLang="en-US" sz="1800" dirty="0">
                <a:solidFill>
                  <a:schemeClr val="tx1"/>
                </a:solidFill>
              </a:rPr>
              <a:t>-Score and NOVA group classifications for ingredient and processing quality.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FSSAI Compliance &amp; Safety Checks:</a:t>
            </a:r>
            <a:r>
              <a:rPr lang="en-US" altLang="en-US" sz="1800" dirty="0">
                <a:solidFill>
                  <a:schemeClr val="tx1"/>
                </a:solidFill>
              </a:rPr>
              <a:t> Identify additive safety, regulatory compliance, and potential harmful ingredients in consumer products.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Actionable Swaps &amp; Recommendations:</a:t>
            </a:r>
            <a:r>
              <a:rPr lang="en-US" altLang="en-US" sz="1800" dirty="0">
                <a:solidFill>
                  <a:schemeClr val="tx1"/>
                </a:solidFill>
              </a:rPr>
              <a:t> Discover healthier local alternatives tailored to dietary needs and personal health goals.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 dirty="0">
                <a:solidFill>
                  <a:schemeClr val="tx1"/>
                </a:solidFill>
              </a:rPr>
              <a:t>Transparency into Manufacturing:</a:t>
            </a:r>
            <a:r>
              <a:rPr lang="en-US" altLang="en-US" sz="1800" dirty="0">
                <a:solidFill>
                  <a:schemeClr val="tx1"/>
                </a:solidFill>
              </a:rPr>
              <a:t> Understand the step-by-step production pathway and ingredient sourcing of analyzed products.</a:t>
            </a:r>
          </a:p>
          <a:p>
            <a:pPr marL="0" indent="0">
              <a:buNone/>
            </a:pPr>
            <a:endParaRPr lang="en-US" sz="2000" dirty="0" smtClean="0">
              <a:solidFill>
                <a:srgbClr val="0F0F0F"/>
              </a:solidFill>
            </a:endParaRPr>
          </a:p>
          <a:p>
            <a:pPr marL="0" indent="0">
              <a:buNone/>
            </a:pPr>
            <a:endParaRPr lang="en-IN" sz="2800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/>
          </a:p>
          <a:p>
            <a:pPr marL="305435" indent="-305435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1216" y="1642187"/>
            <a:ext cx="8238931" cy="3517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466531" y="1642187"/>
            <a:ext cx="1109875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1F1F1F"/>
                </a:solidFill>
              </a:rPr>
              <a:t>For the general public, the future scope of the Indian Product Inspector &amp; Health Rating platform centers on empowering consumers to make healthier, safer, and more conscious choices. </a:t>
            </a:r>
            <a:endParaRPr lang="en-US" altLang="en-US" sz="1400" dirty="0" smtClean="0">
              <a:solidFill>
                <a:srgbClr val="1F1F1F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solidFill>
                <a:srgbClr val="1F1F1F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>
                <a:solidFill>
                  <a:srgbClr val="1F1F1F"/>
                </a:solidFill>
              </a:rPr>
              <a:t>Key </a:t>
            </a:r>
            <a:r>
              <a:rPr lang="en-US" altLang="en-US" sz="1600" b="1" dirty="0">
                <a:solidFill>
                  <a:srgbClr val="1F1F1F"/>
                </a:solidFill>
              </a:rPr>
              <a:t>practical expansions include: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solidFill>
                <a:srgbClr val="1F1F1F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rgbClr val="1F1F1F"/>
                </a:solidFill>
              </a:rPr>
              <a:t>Mobile App Integration:</a:t>
            </a:r>
            <a:r>
              <a:rPr lang="en-US" altLang="en-US" sz="1400" dirty="0">
                <a:solidFill>
                  <a:srgbClr val="1F1F1F"/>
                </a:solidFill>
              </a:rPr>
              <a:t> Direct camera scanning to read barcodes and ingredient labels instantly in grocery store aisles</a:t>
            </a:r>
            <a:r>
              <a:rPr lang="en-US" altLang="en-US" sz="1400" dirty="0" smtClean="0">
                <a:solidFill>
                  <a:srgbClr val="1F1F1F"/>
                </a:solidFill>
              </a:rPr>
              <a:t>.</a:t>
            </a:r>
            <a:r>
              <a:rPr lang="en-US" altLang="en-US" sz="1400" dirty="0">
                <a:solidFill>
                  <a:srgbClr val="1F1F1F"/>
                </a:solidFill>
              </a:rPr>
              <a:t/>
            </a:r>
            <a:br>
              <a:rPr lang="en-US" altLang="en-US" sz="1400" dirty="0">
                <a:solidFill>
                  <a:srgbClr val="1F1F1F"/>
                </a:solidFill>
              </a:rPr>
            </a:br>
            <a:endParaRPr lang="en-US" altLang="en-US" sz="1400" dirty="0">
              <a:solidFill>
                <a:srgbClr val="1F1F1F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rgbClr val="1F1F1F"/>
                </a:solidFill>
              </a:rPr>
              <a:t>Personalized Health Profiles:</a:t>
            </a:r>
            <a:r>
              <a:rPr lang="en-US" altLang="en-US" sz="1400" dirty="0">
                <a:solidFill>
                  <a:srgbClr val="1F1F1F"/>
                </a:solidFill>
              </a:rPr>
              <a:t> Customizing ratings based on individual needs—such as flagging high sodium for hypertension, high sugar for diabetes, or strict allergen alerts (e.g., lactose, gluten, nuts).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solidFill>
                <a:srgbClr val="1F1F1F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rgbClr val="1F1F1F"/>
                </a:solidFill>
              </a:rPr>
              <a:t>Crowdsourced Database:</a:t>
            </a:r>
            <a:r>
              <a:rPr lang="en-US" altLang="en-US" sz="1400" dirty="0">
                <a:solidFill>
                  <a:srgbClr val="1F1F1F"/>
                </a:solidFill>
              </a:rPr>
              <a:t> Allowing users to submit local Indian products, rural regional brands, and missing items to build a comprehensive public dataset.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1F1F1F"/>
                </a:solidFill>
              </a:rPr>
              <a:t/>
            </a:r>
            <a:br>
              <a:rPr lang="en-US" altLang="en-US" sz="1400" dirty="0">
                <a:solidFill>
                  <a:srgbClr val="1F1F1F"/>
                </a:solidFill>
              </a:rPr>
            </a:br>
            <a:r>
              <a:rPr lang="en-US" altLang="en-US" sz="1400" b="1" dirty="0" smtClean="0">
                <a:solidFill>
                  <a:srgbClr val="1F1F1F"/>
                </a:solidFill>
              </a:rPr>
              <a:t>Additives </a:t>
            </a:r>
            <a:r>
              <a:rPr lang="en-US" altLang="en-US" sz="1400" b="1" dirty="0">
                <a:solidFill>
                  <a:srgbClr val="1F1F1F"/>
                </a:solidFill>
              </a:rPr>
              <a:t>&amp; Chemical Decoders:</a:t>
            </a:r>
            <a:r>
              <a:rPr lang="en-US" altLang="en-US" sz="1400" dirty="0">
                <a:solidFill>
                  <a:srgbClr val="1F1F1F"/>
                </a:solidFill>
              </a:rPr>
              <a:t> Deep-dive breakdowns of INS numbers, preservatives, and artificial colors to inform consumers about hidden chemical risks.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solidFill>
                <a:srgbClr val="1F1F1F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rgbClr val="1F1F1F"/>
                </a:solidFill>
              </a:rPr>
              <a:t>Cleaner Alternative Finder:</a:t>
            </a:r>
            <a:r>
              <a:rPr lang="en-US" altLang="en-US" sz="1400" dirty="0">
                <a:solidFill>
                  <a:srgbClr val="1F1F1F"/>
                </a:solidFill>
              </a:rPr>
              <a:t> Automatic recommendations for healthier local swaps, organic brands, or traditional Indian alternatives for heavily processed snacks</a:t>
            </a:r>
            <a:r>
              <a:rPr lang="en-US" altLang="en-US" sz="1400" dirty="0" smtClean="0">
                <a:solidFill>
                  <a:srgbClr val="1F1F1F"/>
                </a:solidFill>
              </a:rPr>
              <a:t>.</a:t>
            </a:r>
            <a:r>
              <a:rPr lang="en-US" altLang="en-US" sz="1400" dirty="0">
                <a:solidFill>
                  <a:srgbClr val="1F1F1F"/>
                </a:solidFill>
              </a:rPr>
              <a:t/>
            </a:r>
            <a:br>
              <a:rPr lang="en-US" altLang="en-US" sz="1400" dirty="0">
                <a:solidFill>
                  <a:srgbClr val="1F1F1F"/>
                </a:solidFill>
              </a:rPr>
            </a:br>
            <a:endParaRPr lang="en-US" altLang="en-US" sz="1400" dirty="0">
              <a:solidFill>
                <a:srgbClr val="1F1F1F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rgbClr val="1F1F1F"/>
                </a:solidFill>
              </a:rPr>
              <a:t>FSSAI Compliance Tracking:</a:t>
            </a:r>
            <a:r>
              <a:rPr lang="en-US" altLang="en-US" sz="1400" dirty="0">
                <a:solidFill>
                  <a:srgbClr val="1F1F1F"/>
                </a:solidFill>
              </a:rPr>
              <a:t> Highlighting mismatches between packaging claims (like "100% Natural" or "No Added Sugar") and the actual ingredient list</a:t>
            </a:r>
            <a:r>
              <a:rPr lang="en-US" altLang="en-US" sz="1400" dirty="0" smtClean="0">
                <a:solidFill>
                  <a:srgbClr val="1F1F1F"/>
                </a:solidFill>
              </a:rPr>
              <a:t>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2400" dirty="0" smtClean="0"/>
          </a:p>
          <a:p>
            <a:pPr marL="305435" indent="-305435"/>
            <a:r>
              <a:rPr lang="en-IN" sz="2400" dirty="0" smtClean="0"/>
              <a:t>Python 3.14.7</a:t>
            </a:r>
          </a:p>
          <a:p>
            <a:pPr marL="305435" indent="-305435"/>
            <a:r>
              <a:rPr lang="en-IN" sz="2400" dirty="0" err="1" smtClean="0"/>
              <a:t>Fssai</a:t>
            </a:r>
            <a:r>
              <a:rPr lang="en-IN" sz="2400" dirty="0" smtClean="0"/>
              <a:t> data</a:t>
            </a:r>
          </a:p>
          <a:p>
            <a:pPr marL="305435" indent="-305435"/>
            <a:r>
              <a:rPr lang="en-IN" sz="2400" dirty="0" err="1" smtClean="0"/>
              <a:t>Streamlit</a:t>
            </a:r>
            <a:endParaRPr lang="en-IN" sz="2400" dirty="0" smtClean="0"/>
          </a:p>
          <a:p>
            <a:pPr marL="305435" indent="-305435"/>
            <a:r>
              <a:rPr lang="en-IN" sz="2400" dirty="0" smtClean="0"/>
              <a:t>Google </a:t>
            </a:r>
            <a:r>
              <a:rPr lang="en-IN" sz="2400" dirty="0" err="1" smtClean="0"/>
              <a:t>ai</a:t>
            </a:r>
            <a:r>
              <a:rPr lang="en-IN" sz="2400" dirty="0" smtClean="0"/>
              <a:t> studio</a:t>
            </a:r>
            <a:endParaRPr lang="en-IN" sz="2400" dirty="0"/>
          </a:p>
          <a:p>
            <a:pPr marL="305435" indent="-305435"/>
            <a:r>
              <a:rPr lang="en-IN" sz="2400" dirty="0" err="1" smtClean="0"/>
              <a:t>Github</a:t>
            </a:r>
            <a:endParaRPr lang="en-IN" sz="2400" dirty="0" smtClean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422-ED9D-D856-C6AD-0F1A715C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Deployment link / </a:t>
            </a:r>
            <a:r>
              <a:rPr lang="en-IN" err="1"/>
              <a:t>github</a:t>
            </a:r>
            <a:r>
              <a:rPr lang="en-IN"/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7C2-EF01-12B0-99EA-861F9629D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5"/>
            <a:ext cx="9981705" cy="2859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 err="1" smtClean="0"/>
              <a:t>Github</a:t>
            </a:r>
            <a:r>
              <a:rPr lang="en-IN" sz="2000" dirty="0" smtClean="0"/>
              <a:t> Link:</a:t>
            </a:r>
            <a:r>
              <a:rPr lang="en-IN" sz="20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2000" dirty="0" smtClean="0">
                <a:solidFill>
                  <a:schemeClr val="accent2">
                    <a:lumMod val="75000"/>
                  </a:schemeClr>
                </a:solidFill>
                <a:hlinkClick r:id="rId2"/>
              </a:rPr>
              <a:t>https://github.com/padvalkarsagar31-debug/Product_Inspector-.git</a:t>
            </a:r>
            <a:r>
              <a:rPr lang="en-IN" sz="2000" dirty="0" smtClean="0">
                <a:solidFill>
                  <a:schemeClr val="accent2">
                    <a:lumMod val="75000"/>
                  </a:schemeClr>
                </a:solidFill>
              </a:rPr>
              <a:t>  </a:t>
            </a:r>
          </a:p>
          <a:p>
            <a:pPr marL="0" indent="0">
              <a:buNone/>
            </a:pPr>
            <a:endParaRPr lang="en-IN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52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purl.org/dc/dcmitype/"/>
    <ds:schemaRef ds:uri="http://schemas.microsoft.com/office/2006/metadata/properties"/>
    <ds:schemaRef ds:uri="9162bd5b-4ed9-4da3-b376-05204580ba3f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c0fa2617-96bd-425d-8578-e93563fe37c5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345</TotalTime>
  <Words>856</Words>
  <Application>Microsoft Office PowerPoint</Application>
  <PresentationFormat>Widescreen</PresentationFormat>
  <Paragraphs>99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Product Inspector        analyzes Indian consumer goods for FSSAI compliance, nutritional impact, and additive safety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References</vt:lpstr>
      <vt:lpstr>Deployment link / 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saikumar</cp:lastModifiedBy>
  <cp:revision>23</cp:revision>
  <dcterms:created xsi:type="dcterms:W3CDTF">2021-05-26T16:50:10Z</dcterms:created>
  <dcterms:modified xsi:type="dcterms:W3CDTF">2026-09-25T11:34:16Z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